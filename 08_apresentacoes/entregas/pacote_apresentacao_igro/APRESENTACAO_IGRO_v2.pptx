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FFDD00"/>
          </a:solidFill>
          <a:ln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CGE-GO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5400" b="1">
                <a:solidFill>
                  <a:srgbClr val="FFFFFF"/>
                </a:solidFill>
                <a:latin typeface="Segoe UI"/>
              </a:defRPr>
            </a:pPr>
            <a:r>
              <a:t>Índice de Gestão de Riscos de Ouvidoria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BB03B"/>
                </a:solidFill>
                <a:latin typeface="Segoe UI"/>
              </a:defRPr>
            </a:pPr>
            <a:r>
              <a:t>IGRO — Metodologia para Monitoramento Estratégico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Maio de 2026 | Alta Gestão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54222"/>
                </a:solidFill>
                <a:latin typeface="Segoe UI"/>
              </a:defRPr>
            </a:pPr>
            <a:r>
              <a:t>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54222"/>
                </a:solidFill>
                <a:latin typeface="Segoe UI"/>
              </a:defRPr>
            </a:pPr>
            <a:r>
              <a:t>109.338 manifestações cidadãs (2024-2025)</a:t>
            </a:r>
          </a:p>
          <a:p>
            <a:pPr>
              <a:spcBef>
                <a:spcPts val="400"/>
              </a:spcBef>
              <a:defRPr sz="1300">
                <a:solidFill>
                  <a:srgbClr val="4A4A4A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054222"/>
                </a:solidFill>
                <a:latin typeface="Segoe UI"/>
              </a:defRPr>
            </a:pPr>
            <a:r>
              <a:t>Dados operacionais FRAGMENTADOS em múltiplos indicadores</a:t>
            </a:r>
          </a:p>
          <a:p>
            <a:pPr>
              <a:spcBef>
                <a:spcPts val="400"/>
              </a:spcBef>
              <a:defRPr sz="1300">
                <a:solidFill>
                  <a:srgbClr val="4A4A4A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054222"/>
                </a:solidFill>
                <a:latin typeface="Segoe UI"/>
              </a:defRPr>
            </a:pPr>
            <a:r>
              <a:t>Sinais CONFLITANTES entre dimensões</a:t>
            </a:r>
          </a:p>
          <a:p>
            <a:pPr lvl="1">
              <a:spcBef>
                <a:spcPts val="400"/>
              </a:spcBef>
              <a:defRPr sz="1300">
                <a:solidFill>
                  <a:srgbClr val="4A4A4A"/>
                </a:solidFill>
                <a:latin typeface="Segoe UI"/>
              </a:defRPr>
            </a:pPr>
            <a:r>
              <a:t>• Órgão rápido ≠ órgão efetivo</a:t>
            </a:r>
          </a:p>
          <a:p>
            <a:pPr lvl="1">
              <a:spcBef>
                <a:spcPts val="400"/>
              </a:spcBef>
              <a:defRPr sz="1300">
                <a:solidFill>
                  <a:srgbClr val="4A4A4A"/>
                </a:solidFill>
                <a:latin typeface="Segoe UI"/>
              </a:defRPr>
            </a:pPr>
            <a:r>
              <a:t>• Falta visão estratégica unificada</a:t>
            </a:r>
          </a:p>
          <a:p>
            <a:pPr>
              <a:spcBef>
                <a:spcPts val="400"/>
              </a:spcBef>
              <a:defRPr sz="1300">
                <a:solidFill>
                  <a:srgbClr val="4A4A4A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054222"/>
                </a:solidFill>
                <a:latin typeface="Segoe UI"/>
              </a:defRPr>
            </a:pPr>
            <a:r>
              <a:t>HETEROGENEIDADE extrema entre 51 órgãos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IGRO — Controladoria-Geral do Estado de Goiás | Maio de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54222"/>
                </a:solidFill>
                <a:latin typeface="Segoe UI"/>
              </a:defRPr>
            </a:pPr>
            <a:r>
              <a:t>METODOLOGIA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66F"/>
                </a:solidFill>
              </a:defRPr>
            </a:pPr>
            <a:r>
              <a:t>Referencial: OCDE/JRC Handbook | ISO 31000:2018 | COSO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6576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66F"/>
                </a:solidFill>
              </a:defRPr>
            </a:pPr>
            <a:r>
              <a:t>EIXO 1: TEMPESTIVIDADE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  <a:r>
              <a:t>TMR: Tempo Médio de Resposta</a:t>
            </a:r>
          </a:p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  <a:r>
              <a:t>Meta: &lt;= 5 dias (excelência)</a:t>
            </a:r>
          </a:p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  <a:r>
              <a:t>PMA: Manifestações em Atraso</a:t>
            </a:r>
          </a:p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  <a:r>
              <a:t>Meta: &lt;= 1% (conformidade)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828800"/>
            <a:ext cx="36576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FA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9202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A22E"/>
                </a:solidFill>
              </a:defRPr>
            </a:pPr>
            <a:r>
              <a:t>EIXO 2: QUALIDADE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  <a:r>
              <a:t>RP: Resolutividade Percebida</a:t>
            </a:r>
          </a:p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  <a:r>
              <a:t>NR: Nota de Recomendação</a:t>
            </a:r>
          </a:p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  <a:r>
              <a:t>%RI: Respostas Insatisfatórias</a:t>
            </a:r>
          </a:p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4A4A4A"/>
                </a:solidFill>
              </a:defRPr>
            </a:pPr>
            <a:r>
              <a:t>Mede: Efetividade percebida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4222"/>
                </a:solidFill>
              </a:defRPr>
            </a:pPr>
            <a:r>
              <a:t>AGREGACAO: Media Geometrica Ponderada</a:t>
            </a:r>
          </a:p>
          <a:p>
            <a:pPr>
              <a:spcBef>
                <a:spcPts val="600"/>
              </a:spcBef>
              <a:defRPr sz="1000">
                <a:solidFill>
                  <a:srgbClr val="4A4A4A"/>
                </a:solidFill>
              </a:defRPr>
            </a:pPr>
            <a:r>
              <a:t>Formula: IGRO = (KRI1 x KRI2 x KRI3 x KRI4 x KRI5)^(1/5)</a:t>
            </a:r>
          </a:p>
          <a:p>
            <a:pPr>
              <a:spcBef>
                <a:spcPts val="400"/>
              </a:spcBef>
              <a:defRPr sz="1000">
                <a:solidFill>
                  <a:srgbClr val="4A4A4A"/>
                </a:solidFill>
              </a:defRPr>
            </a:pPr>
            <a:r>
              <a:t>Beneficio: Penaliza fragilidades extremas; força equilíbrio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IGRO — Controladoria-Geral do Estado de Goiás | Maio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RESULTADOS CONSOLIDADOS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56F24"/>
                </a:solidFill>
                <a:latin typeface="Segoe UI"/>
              </a:defRPr>
            </a:pPr>
            <a:r>
              <a:t>52,9%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4A4A"/>
                </a:solidFill>
                <a:latin typeface="Segoe UI"/>
              </a:defRPr>
            </a:pPr>
            <a:r>
              <a:t>IGRO</a:t>
            </a:r>
            <a:br/>
            <a:r>
              <a:t>(Crítico)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6304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66F"/>
                </a:solidFill>
                <a:latin typeface="Segoe UI"/>
              </a:defRPr>
            </a:pPr>
            <a:r>
              <a:t>6,8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4A4A"/>
                </a:solidFill>
                <a:latin typeface="Segoe UI"/>
              </a:defRPr>
            </a:pPr>
            <a:r>
              <a:t>TMR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6304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7931E"/>
                </a:solidFill>
                <a:latin typeface="Segoe UI"/>
              </a:defRPr>
            </a:pPr>
            <a:r>
              <a:t>2,3%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4A4A"/>
                </a:solidFill>
                <a:latin typeface="Segoe UI"/>
              </a:defRPr>
            </a:pPr>
            <a:r>
              <a:t>PMA</a:t>
            </a:r>
            <a:br/>
            <a:r>
              <a:t>(Atraso)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46304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A22E"/>
                </a:solidFill>
                <a:latin typeface="Segoe UI"/>
              </a:defRPr>
            </a:pPr>
            <a:r>
              <a:t>61,5%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4A4A"/>
                </a:solidFill>
                <a:latin typeface="Segoe UI"/>
              </a:defRPr>
            </a:pPr>
            <a:r>
              <a:t>Resolutiv.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4222"/>
                </a:solidFill>
              </a:defRPr>
            </a:pPr>
            <a:r>
              <a:t>Diagnostico:</a:t>
            </a:r>
          </a:p>
          <a:p>
            <a:pPr>
              <a:spcBef>
                <a:spcPts val="300"/>
              </a:spcBef>
              <a:defRPr sz="1000">
                <a:solidFill>
                  <a:srgbClr val="4A4A4A"/>
                </a:solidFill>
              </a:defRPr>
            </a:pPr>
            <a:r>
              <a:t>• IGRO 52,9% = NIVEL CRITICO (média rede opera com risco elevado)</a:t>
            </a:r>
          </a:p>
          <a:p>
            <a:pPr>
              <a:spcBef>
                <a:spcPts val="300"/>
              </a:spcBef>
              <a:defRPr sz="1000">
                <a:solidFill>
                  <a:srgbClr val="4A4A4A"/>
                </a:solidFill>
              </a:defRPr>
            </a:pPr>
            <a:r>
              <a:t>• TMR 6,8 dias = Abaixo prazo legal (bom), mas HETEROGENEO entre órgãos</a:t>
            </a:r>
          </a:p>
          <a:p>
            <a:pPr>
              <a:spcBef>
                <a:spcPts val="300"/>
              </a:spcBef>
              <a:defRPr sz="1000">
                <a:solidFill>
                  <a:srgbClr val="4A4A4A"/>
                </a:solidFill>
              </a:defRPr>
            </a:pPr>
            <a:r>
              <a:t>• PMA 2,3% = Não conformidade parcial (alguns órgãos descumprem prazo)</a:t>
            </a:r>
          </a:p>
          <a:p>
            <a:pPr>
              <a:spcBef>
                <a:spcPts val="300"/>
              </a:spcBef>
              <a:defRPr sz="1000">
                <a:solidFill>
                  <a:srgbClr val="4A4A4A"/>
                </a:solidFill>
              </a:defRPr>
            </a:pPr>
            <a:r>
              <a:t>• Resolutividade 61,5% = Moderada (4 em 10 cidadãos com dúvida/insatisfação)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IGRO — Controladoria-Geral do Estado de Goiás | Maio de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ANALISE DE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00766F"/>
                </a:solidFill>
              </a:defRPr>
            </a:pPr>
            <a:r>
              <a:t>HETEROGENEIDADE EXTREMA</a:t>
            </a:r>
          </a:p>
          <a:p>
            <a:pPr lvl="1">
              <a:defRPr sz="1000">
                <a:solidFill>
                  <a:srgbClr val="4A4A4A"/>
                </a:solidFill>
              </a:defRPr>
            </a:pPr>
            <a:r>
              <a:t>→ GOINFRA (100%) vs SECAMI (~30%) — não é variação normal, é diferença estrutural</a:t>
            </a:r>
          </a:p>
          <a:p>
            <a:pPr>
              <a:spcBef>
                <a:spcPts val="600"/>
              </a:spcBef>
              <a:defRPr sz="1100" b="1">
                <a:solidFill>
                  <a:srgbClr val="00766F"/>
                </a:solidFill>
              </a:defRPr>
            </a:pPr>
            <a:r>
              <a:t>ORGAOS CRITICOS = MAIS VOLUME</a:t>
            </a:r>
          </a:p>
          <a:p>
            <a:pPr lvl="1">
              <a:defRPr sz="1000">
                <a:solidFill>
                  <a:srgbClr val="4A4A4A"/>
                </a:solidFill>
              </a:defRPr>
            </a:pPr>
            <a:r>
              <a:t>→ 39% dos órgãos em nível crítico; justamente ali há MAIS manifestações cidadãs</a:t>
            </a:r>
          </a:p>
          <a:p>
            <a:pPr>
              <a:spcBef>
                <a:spcPts val="600"/>
              </a:spcBef>
              <a:defRPr sz="1100" b="1">
                <a:solidFill>
                  <a:srgbClr val="00766F"/>
                </a:solidFill>
              </a:defRPr>
            </a:pPr>
            <a:r>
              <a:t>TAMANHO NAO EXPLICA DESEMPENHO</a:t>
            </a:r>
          </a:p>
          <a:p>
            <a:pPr lvl="1">
              <a:defRPr sz="1000">
                <a:solidFill>
                  <a:srgbClr val="4A4A4A"/>
                </a:solidFill>
              </a:defRPr>
            </a:pPr>
            <a:r>
              <a:t>→ Órgãos pequenos não são sempre ruins; órgãos grandes não são sempre bons</a:t>
            </a:r>
          </a:p>
          <a:p>
            <a:pPr>
              <a:spcBef>
                <a:spcPts val="600"/>
              </a:spcBef>
              <a:defRPr sz="1100" b="1">
                <a:solidFill>
                  <a:srgbClr val="00766F"/>
                </a:solidFill>
              </a:defRPr>
            </a:pPr>
            <a:r>
              <a:t>DISSOCIACAO TMR vs RESOLUTIVIDADE</a:t>
            </a:r>
          </a:p>
          <a:p>
            <a:pPr lvl="1">
              <a:defRPr sz="1000">
                <a:solidFill>
                  <a:srgbClr val="4A4A4A"/>
                </a:solidFill>
              </a:defRPr>
            </a:pPr>
            <a:r>
              <a:t>→ Alguns órgãos rápidos têm baixa resolutividade; outros lentos mas efetivos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IGRO — Controladoria-Geral do Estado de Goiás | Maio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54222"/>
                </a:solidFill>
                <a:latin typeface="Segoe UI"/>
              </a:defRPr>
            </a:pPr>
            <a:r>
              <a:t>ACHADO CRITICO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931E"/>
                </a:solidFill>
                <a:latin typeface="Segoe UI"/>
              </a:defRPr>
            </a:pPr>
            <a:r>
              <a:t>Lei de Goodhart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 b="1">
                <a:solidFill>
                  <a:srgbClr val="F7931E"/>
                </a:solidFill>
              </a:defRPr>
            </a:pPr>
            <a:r>
              <a:t>"Quando uma medida se torna uma meta, ela deixa de ser uma boa medida."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54222"/>
                </a:solidFill>
              </a:defRPr>
            </a:pPr>
            <a:r>
              <a:t>Observacao nos dados: Orgaos com TMR baixo nem sempre tiveram Resolutividade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7863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4A4A4A"/>
                </a:solidFill>
              </a:defRPr>
            </a:pPr>
            <a:r>
              <a:t>RISCO: Otimizacao exclusiva de velocidade</a:t>
            </a:r>
          </a:p>
          <a:p>
            <a:pPr lvl="1">
              <a:spcBef>
                <a:spcPts val="300"/>
              </a:spcBef>
              <a:defRPr sz="1100">
                <a:solidFill>
                  <a:srgbClr val="4A4A4A"/>
                </a:solidFill>
              </a:defRPr>
            </a:pPr>
            <a:r>
              <a:t>→ Orgao responde rapido mas superficial</a:t>
            </a:r>
          </a:p>
          <a:p>
            <a:pPr>
              <a:spcBef>
                <a:spcPts val="300"/>
              </a:spcBef>
              <a:defRPr sz="1100">
                <a:solidFill>
                  <a:srgbClr val="4A4A4A"/>
                </a:solidFill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4A4A4A"/>
                </a:solidFill>
              </a:defRPr>
            </a:pPr>
            <a:r>
              <a:t>SOLUCAO: Indicador composto (IGRO)</a:t>
            </a:r>
          </a:p>
          <a:p>
            <a:pPr lvl="1">
              <a:spcBef>
                <a:spcPts val="300"/>
              </a:spcBef>
              <a:defRPr sz="1100">
                <a:solidFill>
                  <a:srgbClr val="4A4A4A"/>
                </a:solidFill>
              </a:defRPr>
            </a:pPr>
            <a:r>
              <a:t>→ Força equilibrio entre velocidade E qualidade</a:t>
            </a:r>
          </a:p>
          <a:p>
            <a:pPr lvl="1">
              <a:spcBef>
                <a:spcPts val="300"/>
              </a:spcBef>
              <a:defRPr sz="1100">
                <a:solidFill>
                  <a:srgbClr val="4A4A4A"/>
                </a:solidFill>
              </a:defRPr>
            </a:pPr>
            <a:r>
              <a:t>→ Impossivel compensar fragilidade em uma dimensao</a:t>
            </a:r>
          </a:p>
          <a:p>
            <a:pPr lvl="1">
              <a:spcBef>
                <a:spcPts val="300"/>
              </a:spcBef>
              <a:defRPr sz="1100">
                <a:solidFill>
                  <a:srgbClr val="4A4A4A"/>
                </a:solidFill>
              </a:defRPr>
            </a:pPr>
            <a:r>
              <a:t>→ Mitiga comportamentos disfuncionais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IGRO — Controladoria-Geral do Estado de Goiás | Maio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5 FATORES DE SUCESSO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66F"/>
                </a:solidFill>
              </a:defRPr>
            </a:pPr>
            <a:r>
              <a:t>• Integracao Tecnologica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Sistemas modernos = resposta rapida + estabilidade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66F"/>
                </a:solidFill>
              </a:defRPr>
            </a:pPr>
            <a:r>
              <a:t>• Capacidade Tecnica Dedicada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3230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Equipes especializadas = consistencia nos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80944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66F"/>
                </a:solidFill>
              </a:defRPr>
            </a:pPr>
            <a:r>
              <a:t>• Comunicacao Estruturada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Linguagem clara = percepcao cidada positiva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85615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66F"/>
                </a:solidFill>
              </a:defRPr>
            </a:pPr>
            <a:r>
              <a:t>• Conformidade Normativa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4164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Processos padronizados = reduz surpresas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4222"/>
                </a:solidFill>
              </a:defRPr>
            </a:pPr>
            <a:r>
              <a:t>REPLICAVEL: Sao escolhas de gestao, nao destino. Orgaos criticos podem adotar esses 5 fatores.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IGRO — Controladoria-Geral do Estado de Goiás | Maio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APLICACOES PRATICAS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A22E"/>
                </a:solidFill>
              </a:defRPr>
            </a:pPr>
            <a:r>
              <a:t>• Monitoramento Estrategico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Dashboard executivo, IGRO atualizado mensal/trimestral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A22E"/>
                </a:solidFill>
              </a:defRPr>
            </a:pPr>
            <a:r>
              <a:t>• Avaliacao Comparativa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3230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Benchmarking entre orgaos, replicacao de boas praticas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80944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A22E"/>
                </a:solidFill>
              </a:defRPr>
            </a:pPr>
            <a:r>
              <a:t>• Priorizacao de Acoes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Recursos direcionados para orgaos criticos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85615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A22E"/>
                </a:solidFill>
              </a:defRPr>
            </a:pPr>
            <a:r>
              <a:t>• Governanca por 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4164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Integracao com Matriz de Riscos da CGE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IGRO — Controladoria-Geral do Estado de Goiás | Maio de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PROXIMOS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7931E"/>
                </a:solidFill>
              </a:defRPr>
            </a:pPr>
            <a:r>
              <a:t>FASE 1 — Imediato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Validar 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Comunicar rede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Estruturar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71600"/>
            <a:ext cx="274320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BB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03B"/>
                </a:solidFill>
              </a:defRPr>
            </a:pPr>
            <a:r>
              <a:t>FASE 2 — 3-6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Implementar calculos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Capacitar gestores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71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Planos de melhoria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71600"/>
            <a:ext cx="2743200" cy="4389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FA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A22E"/>
                </a:solidFill>
              </a:defRPr>
            </a:pPr>
            <a:r>
              <a:t>FASE 3 — 6-12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74519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Novos indicadores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231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Modelos preditivos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71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✓ Validacao longitudinal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IGRO — Controladoria-Geral do Estado de Goiás | Maio de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FFDD00"/>
          </a:solidFill>
          <a:ln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IGRO: De Dados a Decisao Estrategica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✓ Sintetiza 5 metricas em 1 numero estrategico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✓ Força equilibrio entre velocidade e qualidade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✓ Identifica heterogeneidade e oportunidades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✓ Reduz comportamentos disfuncionais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✓ Pronto para adocao imediata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03B"/>
                </a:solidFill>
              </a:defRPr>
            </a:pPr>
            <a:r>
              <a:t>Vocês aprovam a validação e implementação da FASE 1?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