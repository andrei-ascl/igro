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4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FFDD00"/>
          </a:solidFill>
          <a:ln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🏛️ CGE-GO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5400" b="1">
                <a:solidFill>
                  <a:srgbClr val="FFFFFF"/>
                </a:solidFill>
                <a:latin typeface="Segoe UI"/>
              </a:defRPr>
            </a:pPr>
            <a:r>
              <a:t>Índice de Gestão de Riscos de Ouvidoria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BB03B"/>
                </a:solidFill>
                <a:latin typeface="Segoe UI"/>
              </a:defRPr>
            </a:pPr>
            <a:r>
              <a:t>IGRO — Metodologia para Monitoramento Estratégico da Rede Estadual de Ouvidorias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Maio de 2026 | Apresentação para Alta Gestão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4222"/>
          </a:solidFill>
          <a:ln>
            <a:solidFill>
              <a:srgbClr val="054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54222"/>
                </a:solidFill>
                <a:latin typeface="Segoe UI"/>
              </a:defRPr>
            </a:pPr>
            <a:r>
              <a:t>O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18288"/>
          </a:xfrm>
          <a:prstGeom prst="rect">
            <a:avLst/>
          </a:prstGeom>
          <a:solidFill>
            <a:srgbClr val="00766F"/>
          </a:solidFill>
          <a:ln>
            <a:solidFill>
              <a:srgbClr val="00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4A4A4A"/>
                </a:solidFill>
                <a:latin typeface="Segoe UI"/>
              </a:defRPr>
            </a:pPr>
            <a:r>
              <a:t>109.338 manifestações recebidas entre 2024 e 2025</a:t>
            </a:r>
          </a:p>
          <a:p>
            <a:pPr>
              <a:spcBef>
                <a:spcPts val="600"/>
              </a:spcBef>
              <a:defRPr sz="1300">
                <a:solidFill>
                  <a:srgbClr val="4A4A4A"/>
                </a:solidFill>
                <a:latin typeface="Segoe UI"/>
              </a:defRPr>
            </a:pPr>
          </a:p>
          <a:p>
            <a:pPr>
              <a:spcBef>
                <a:spcPts val="600"/>
              </a:spcBef>
              <a:defRPr sz="1300">
                <a:solidFill>
                  <a:srgbClr val="4A4A4A"/>
                </a:solidFill>
                <a:latin typeface="Segoe UI"/>
              </a:defRPr>
            </a:pPr>
            <a:r>
              <a:t>Dados operacionais fragmentados em múltiplos indicadores</a:t>
            </a:r>
          </a:p>
          <a:p>
            <a:pPr>
              <a:spcBef>
                <a:spcPts val="600"/>
              </a:spcBef>
              <a:defRPr sz="1300">
                <a:solidFill>
                  <a:srgbClr val="4A4A4A"/>
                </a:solidFill>
                <a:latin typeface="Segoe UI"/>
              </a:defRPr>
            </a:pPr>
          </a:p>
          <a:p>
            <a:pPr lvl="1">
              <a:spcBef>
                <a:spcPts val="600"/>
              </a:spcBef>
              <a:defRPr sz="1400">
                <a:solidFill>
                  <a:srgbClr val="4A4A4A"/>
                </a:solidFill>
                <a:latin typeface="Segoe UI"/>
              </a:defRPr>
            </a:pPr>
            <a:r>
              <a:t>❌ Sinais conflitantes (tempo rápido ≠ qualidade)</a:t>
            </a:r>
          </a:p>
          <a:p>
            <a:pPr lvl="1">
              <a:spcBef>
                <a:spcPts val="600"/>
              </a:spcBef>
              <a:defRPr sz="1400">
                <a:solidFill>
                  <a:srgbClr val="4A4A4A"/>
                </a:solidFill>
                <a:latin typeface="Segoe UI"/>
              </a:defRPr>
            </a:pPr>
            <a:r>
              <a:t>❌ Falta de visão estratégica unificada</a:t>
            </a:r>
          </a:p>
          <a:p>
            <a:pPr lvl="1">
              <a:spcBef>
                <a:spcPts val="600"/>
              </a:spcBef>
              <a:defRPr sz="1400">
                <a:solidFill>
                  <a:srgbClr val="4A4A4A"/>
                </a:solidFill>
                <a:latin typeface="Segoe UI"/>
              </a:defRPr>
            </a:pPr>
            <a:r>
              <a:t>❌ Impossível comparar órgãos com estruturas diferentes</a:t>
            </a:r>
          </a:p>
          <a:p>
            <a:pPr>
              <a:spcBef>
                <a:spcPts val="600"/>
              </a:spcBef>
              <a:defRPr sz="1300">
                <a:solidFill>
                  <a:srgbClr val="4A4A4A"/>
                </a:solidFill>
                <a:latin typeface="Segoe UI"/>
              </a:defRPr>
            </a:pPr>
          </a:p>
          <a:p>
            <a:pPr>
              <a:spcBef>
                <a:spcPts val="600"/>
              </a:spcBef>
              <a:defRPr sz="1300" b="1">
                <a:solidFill>
                  <a:srgbClr val="054222"/>
                </a:solidFill>
                <a:latin typeface="Segoe UI"/>
              </a:defRPr>
            </a:pPr>
            <a:r>
              <a:t>Pergunta central: Como transformar dados em decisão?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2636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A4A"/>
                </a:solidFill>
                <a:latin typeface="Segoe UI"/>
              </a:defRPr>
            </a:pPr>
            <a:r>
              <a:t>Índice de Gestão de Riscos de Ouvidoria (IGRO) | Controladoria-Geral do Estado de Goiás | Maio de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4222"/>
          </a:solidFill>
          <a:ln>
            <a:solidFill>
              <a:srgbClr val="054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54222"/>
                </a:solidFill>
                <a:latin typeface="Segoe UI"/>
              </a:defRPr>
            </a:pPr>
            <a:r>
              <a:t>SOLUÇÃO: O IGRO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18288"/>
          </a:xfrm>
          <a:prstGeom prst="rect">
            <a:avLst/>
          </a:prstGeom>
          <a:solidFill>
            <a:srgbClr val="00766F"/>
          </a:solidFill>
          <a:ln>
            <a:solidFill>
              <a:srgbClr val="00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4222"/>
                </a:solidFill>
                <a:latin typeface="Segoe UI"/>
              </a:defRPr>
            </a:pPr>
            <a:r>
              <a:t>Um único indicador que sintetiza 5 métricas em 2 eixos, forçando equilíbrio entre velocidade e qualidade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384048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66F"/>
                </a:solidFill>
              </a:defRPr>
            </a:pPr>
            <a:r>
              <a:t>⚡ TEMPESTIVIDADE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4A4A4A"/>
                </a:solidFill>
              </a:defRPr>
            </a:pPr>
            <a:r>
              <a:t>TMR: Tempo Médio de Resposta</a:t>
            </a:r>
          </a:p>
          <a:p>
            <a:pPr>
              <a:spcBef>
                <a:spcPts val="400"/>
              </a:spcBef>
              <a:defRPr sz="1100">
                <a:solidFill>
                  <a:srgbClr val="4A4A4A"/>
                </a:solidFill>
              </a:defRPr>
            </a:pPr>
            <a:r>
              <a:t>PMA: Manifestações em Atraso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651760"/>
            <a:ext cx="384048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FA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7432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A22E"/>
                </a:solidFill>
              </a:defRPr>
            </a:pPr>
            <a:r>
              <a:t>✅ QUALIDADE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2004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4A4A4A"/>
                </a:solidFill>
              </a:defRPr>
            </a:pPr>
            <a:r>
              <a:t>RP: Resolutividade Percebida</a:t>
            </a:r>
          </a:p>
          <a:p>
            <a:pPr>
              <a:spcBef>
                <a:spcPts val="400"/>
              </a:spcBef>
              <a:defRPr sz="1100">
                <a:solidFill>
                  <a:srgbClr val="4A4A4A"/>
                </a:solidFill>
              </a:defRPr>
            </a:pPr>
            <a:r>
              <a:t>%RI: Respostas Insatisfatórias</a:t>
            </a:r>
          </a:p>
          <a:p>
            <a:pPr>
              <a:spcBef>
                <a:spcPts val="400"/>
              </a:spcBef>
              <a:defRPr sz="1100">
                <a:solidFill>
                  <a:srgbClr val="4A4A4A"/>
                </a:solidFill>
              </a:defRPr>
            </a:pPr>
            <a:r>
              <a:t>NR: Nota de Recomendação (NPS)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2636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A4A"/>
                </a:solidFill>
                <a:latin typeface="Segoe UI"/>
              </a:defRPr>
            </a:pPr>
            <a:r>
              <a:t>Índice de Gestão de Riscos de Ouvidoria (IGRO) | Controladoria-Geral do Estado de Goiás | Maio de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4222"/>
          </a:solidFill>
          <a:ln>
            <a:solidFill>
              <a:srgbClr val="054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54222"/>
                </a:solidFill>
                <a:latin typeface="Segoe UI"/>
              </a:defRPr>
            </a:pPr>
            <a:r>
              <a:t>RESULTADOS PRINCIPAIS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18288"/>
          </a:xfrm>
          <a:prstGeom prst="rect">
            <a:avLst/>
          </a:prstGeom>
          <a:solidFill>
            <a:srgbClr val="00766F"/>
          </a:solidFill>
          <a:ln>
            <a:solidFill>
              <a:srgbClr val="00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56F24"/>
                </a:solidFill>
                <a:latin typeface="Segoe UI"/>
              </a:defRPr>
            </a:pPr>
            <a:r>
              <a:t>52,9%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A4A4A"/>
                </a:solidFill>
                <a:latin typeface="Segoe UI"/>
              </a:defRPr>
            </a:pPr>
            <a:r>
              <a:t>IGRO Consolidado</a:t>
            </a:r>
            <a:br/>
            <a:r>
              <a:t>(Crítico)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463040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5544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766F"/>
                </a:solidFill>
                <a:latin typeface="Segoe UI"/>
              </a:defRPr>
            </a:pPr>
            <a:r>
              <a:t>6,8 dias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057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A4A4A"/>
                </a:solidFill>
                <a:latin typeface="Segoe UI"/>
              </a:defRPr>
            </a:pPr>
            <a:r>
              <a:t>Tempo Médio</a:t>
            </a:r>
            <a:br/>
            <a:r>
              <a:t>de Resposta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463040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544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FA22E"/>
                </a:solidFill>
                <a:latin typeface="Segoe UI"/>
              </a:defRPr>
            </a:pPr>
            <a:r>
              <a:t>61,5%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57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A4A4A"/>
                </a:solidFill>
                <a:latin typeface="Segoe UI"/>
              </a:defRPr>
            </a:pPr>
            <a:r>
              <a:t>Resolutividade</a:t>
            </a:r>
            <a:br/>
            <a:r>
              <a:t>Percebida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463040"/>
            <a:ext cx="1828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5544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BB03B"/>
                </a:solidFill>
                <a:latin typeface="Segoe UI"/>
              </a:defRPr>
            </a:pPr>
            <a:r>
              <a:t>+32,4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57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A4A4A"/>
                </a:solidFill>
                <a:latin typeface="Segoe UI"/>
              </a:defRPr>
            </a:pPr>
            <a:r>
              <a:t>NPS</a:t>
            </a:r>
            <a:br/>
            <a:r>
              <a:t>Moderado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4222"/>
                </a:solidFill>
              </a:defRPr>
            </a:pPr>
            <a:r>
              <a:t>Achados-Chave: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7589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• 39% dos órgãos em nível crítico de risco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7589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• Forte heterogeneidade entre unidades (GOINFRA: 100% vs. SECAMI: ~30%)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7589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• Volume operacional ≠ desempenho (fatores de gestão superam tamanho)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2636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A4A"/>
                </a:solidFill>
                <a:latin typeface="Segoe UI"/>
              </a:defRPr>
            </a:pPr>
            <a:r>
              <a:t>Índice de Gestão de Riscos de Ouvidoria (IGRO) | Controladoria-Geral do Estado de Goiás | Maio de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4222"/>
          </a:solidFill>
          <a:ln>
            <a:solidFill>
              <a:srgbClr val="054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54222"/>
                </a:solidFill>
                <a:latin typeface="Segoe UI"/>
              </a:defRPr>
            </a:pPr>
            <a:r>
              <a:t>ACHADO CRÍTICO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7931E"/>
                </a:solidFill>
                <a:latin typeface="Segoe UI"/>
              </a:defRPr>
            </a:pPr>
            <a:r>
              <a:t>Lei de Goodhart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 b="1">
                <a:solidFill>
                  <a:srgbClr val="F7931E"/>
                </a:solidFill>
              </a:defRPr>
            </a:pPr>
            <a:r>
              <a:t>"Quando uma medida se torna uma meta, ela deixa de ser uma boa medida."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54222"/>
                </a:solidFill>
              </a:defRPr>
            </a:pPr>
            <a:r>
              <a:t>Observação: Órgãos com baixo TMR nem sempre tiveram alta Resolutividade Percebida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4A4A4A"/>
                </a:solidFill>
              </a:defRPr>
            </a:pPr>
            <a:r>
              <a:t>⚠️  Otimização exclusiva de velocidade</a:t>
            </a:r>
          </a:p>
          <a:p>
            <a:pPr lvl="1">
              <a:spcBef>
                <a:spcPts val="400"/>
              </a:spcBef>
              <a:defRPr sz="1200">
                <a:solidFill>
                  <a:srgbClr val="4A4A4A"/>
                </a:solidFill>
              </a:defRPr>
            </a:pPr>
            <a:r>
              <a:t>     → Respostas rápidas, porém superficiais</a:t>
            </a:r>
          </a:p>
          <a:p>
            <a:pPr>
              <a:spcBef>
                <a:spcPts val="400"/>
              </a:spcBef>
              <a:defRPr sz="1200">
                <a:solidFill>
                  <a:srgbClr val="4A4A4A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4A4A4A"/>
                </a:solidFill>
              </a:defRPr>
            </a:pPr>
            <a:r>
              <a:t>✅ Solução: Indicador composto</a:t>
            </a:r>
          </a:p>
          <a:p>
            <a:pPr lvl="1">
              <a:spcBef>
                <a:spcPts val="400"/>
              </a:spcBef>
              <a:defRPr sz="1200">
                <a:solidFill>
                  <a:srgbClr val="4A4A4A"/>
                </a:solidFill>
              </a:defRPr>
            </a:pPr>
            <a:r>
              <a:t>     → Força equilíbrio entre velocidade e qualidade</a:t>
            </a:r>
          </a:p>
          <a:p>
            <a:pPr lvl="1">
              <a:spcBef>
                <a:spcPts val="400"/>
              </a:spcBef>
              <a:defRPr sz="1200">
                <a:solidFill>
                  <a:srgbClr val="4A4A4A"/>
                </a:solidFill>
              </a:defRPr>
            </a:pPr>
            <a:r>
              <a:t>     → Mitiga comportamentos disfuncionais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2636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A4A"/>
                </a:solidFill>
                <a:latin typeface="Segoe UI"/>
              </a:defRPr>
            </a:pPr>
            <a:r>
              <a:t>Índice de Gestão de Riscos de Ouvidoria (IGRO) | Controladoria-Geral do Estado de Goiás | Maio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4222"/>
          </a:solidFill>
          <a:ln>
            <a:solidFill>
              <a:srgbClr val="054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54222"/>
                </a:solidFill>
                <a:latin typeface="Segoe UI"/>
              </a:defRPr>
            </a:pPr>
            <a:r>
              <a:t>5 FATORES DE SUCESSO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18288"/>
          </a:xfrm>
          <a:prstGeom prst="rect">
            <a:avLst/>
          </a:prstGeom>
          <a:solidFill>
            <a:srgbClr val="00766F"/>
          </a:solidFill>
          <a:ln>
            <a:solidFill>
              <a:srgbClr val="00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766F"/>
                </a:solidFill>
              </a:defRPr>
            </a:pPr>
            <a:r>
              <a:t>💻  Integração Tecnológica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Sistemas modernos reduzem tempo e aumentam estabilidade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766F"/>
                </a:solidFill>
              </a:defRPr>
            </a:pPr>
            <a:r>
              <a:t>👥  Capacidade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Equipes especializadas e treinamento contínuo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766F"/>
                </a:solidFill>
              </a:defRPr>
            </a:pPr>
            <a:r>
              <a:t>📢  Comunicação Estruturada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Linguagem clara, acessível, centrada no cidadão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766F"/>
                </a:solidFill>
              </a:defRPr>
            </a:pPr>
            <a:r>
              <a:t>✓  Conformidade Normativa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8912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Processos padronizados e auditáveis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766F"/>
                </a:solidFill>
              </a:defRPr>
            </a:pPr>
            <a:r>
              <a:t>📊  Monitoramento Contínuo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2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Acompanhamento regular e ajustes operacionais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2636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A4A"/>
                </a:solidFill>
                <a:latin typeface="Segoe UI"/>
              </a:defRPr>
            </a:pPr>
            <a:r>
              <a:t>Índice de Gestão de Riscos de Ouvidoria (IGRO) | Controladoria-Geral do Estado de Goiás | Maio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4222"/>
          </a:solidFill>
          <a:ln>
            <a:solidFill>
              <a:srgbClr val="054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54222"/>
                </a:solidFill>
                <a:latin typeface="Segoe UI"/>
              </a:defRPr>
            </a:pPr>
            <a:r>
              <a:t>APLICAÇÕES PRÁTICAS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18288"/>
          </a:xfrm>
          <a:prstGeom prst="rect">
            <a:avLst/>
          </a:prstGeom>
          <a:solidFill>
            <a:srgbClr val="00766F"/>
          </a:solidFill>
          <a:ln>
            <a:solidFill>
              <a:srgbClr val="00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A22E"/>
                </a:solidFill>
              </a:defRPr>
            </a:pPr>
            <a:r>
              <a:t>📊  Monitoramento Estratégico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Dashboard executivo com atualização mensal/trimestral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A22E"/>
                </a:solidFill>
              </a:defRPr>
            </a:pPr>
            <a:r>
              <a:t>🏆  Avaliação Comparativa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Benchmarking entre órgãos e identificação de boas práticas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A22E"/>
                </a:solidFill>
              </a:defRPr>
            </a:pPr>
            <a:r>
              <a:t>📍  Priorização de 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Direcionamento de recursos para órgãos críticos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A22E"/>
                </a:solidFill>
              </a:defRPr>
            </a:pPr>
            <a:r>
              <a:t>⚖️  Governança orientada por Risco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Integração com Matriz de Gestão de Riscos da CGE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2636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A4A"/>
                </a:solidFill>
                <a:latin typeface="Segoe UI"/>
              </a:defRPr>
            </a:pPr>
            <a:r>
              <a:t>Índice de Gestão de Riscos de Ouvidoria (IGRO) | Controladoria-Geral do Estado de Goiás | Maio de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54222"/>
          </a:solidFill>
          <a:ln>
            <a:solidFill>
              <a:srgbClr val="054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54222"/>
                </a:solidFill>
                <a:latin typeface="Segoe UI"/>
              </a:defRPr>
            </a:pPr>
            <a:r>
              <a:t>PRÓXIMOS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18288"/>
          </a:xfrm>
          <a:prstGeom prst="rect">
            <a:avLst/>
          </a:prstGeom>
          <a:solidFill>
            <a:srgbClr val="00766F"/>
          </a:solidFill>
          <a:ln>
            <a:solidFill>
              <a:srgbClr val="007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60320" cy="4114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7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7931E"/>
                </a:solidFill>
              </a:defRPr>
            </a:pPr>
            <a:r>
              <a:t>FASE 1 — Imediato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✓ Validar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✓ Comunicar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✓ Dashboards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560320" cy="4114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BB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544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03B"/>
                </a:solidFill>
              </a:defRPr>
            </a:pPr>
            <a:r>
              <a:t>FASE 2 — 3-6 meses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202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✓ Implementar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774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✓ Capacitar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346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✓ Melhorar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2560320" cy="4114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FA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544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A22E"/>
                </a:solidFill>
              </a:defRPr>
            </a:pPr>
            <a:r>
              <a:t>FASE 3 — 6-12 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✓ Evoluir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774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✓ Integrar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346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✓ Validar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2636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A4A"/>
                </a:solidFill>
                <a:latin typeface="Segoe UI"/>
              </a:defRPr>
            </a:pPr>
            <a:r>
              <a:t>Índice de Gestão de Riscos de Ouvidoria (IGRO) | Controladoria-Geral do Estado de Goiás | Maio de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4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FFDD00"/>
          </a:solidFill>
          <a:ln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 IGRO oferece instrumento inédito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BB03B"/>
                </a:solidFill>
              </a:defRPr>
            </a:pPr>
            <a:r>
              <a:t>para transformar dados operacionais de ouvidoria em linguagem estratégica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✓ Sintetiza múltiplas dimensões sem perder informação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✓ Identifica heterogeneidade entre órgãos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✓ Demonstra que gestão supera tamanho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✓ Reduz comportamentos disfuncionais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CAD47"/>
                </a:solidFill>
              </a:defRPr>
            </a:pPr>
            <a:r>
              <a:t>Pronto para adoção como ferramenta estratégica da CGE-GO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